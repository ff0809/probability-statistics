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8986A-5EE4-2F42-C82F-009FC948E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5234EA-C0CF-DF7D-D597-D7AE483CE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1EA110-D068-03B3-A361-2A7DABAA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7054E4-6717-DF8B-7427-DEE059E2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5078D-A558-1120-F2E8-2A91F2A7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53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95DE2-13A0-B5DE-D3D4-A77A735B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0E85C3-74F7-948C-C7EB-25EE0A05B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8CF011-D954-61C4-2989-BDB899F1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B9A47-D0FE-881B-0567-6666FF06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1C342-531F-E659-617F-C26C550A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981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72BEC-C4EF-7D1B-7C05-5F6183EA5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D79565-16F7-AE6A-9FE6-B0C43F45B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D33BB-CAE5-D519-FA32-68C2F72EE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FD7B5A-858E-2CCB-6706-1A8F2FF7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E7F6C-255B-B1E4-265B-73CE2EC6B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96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8225-DD47-E932-6060-1A2A6E182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A0B50-2533-2A64-5608-4495FB32E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1F3C6C-A291-FD36-E960-05E64F81C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452BAB-784E-CE91-5EF3-59472AAD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C323F9-D074-20A8-8C76-58904DFD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85FE29-6BA1-66B1-781E-F7D607B1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72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BDB9A-038D-C7D9-838A-30996CC03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3DD914-C2E6-02F4-F4F9-D890F53B3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F3295E-ED1F-A341-59F2-A042A1F40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2E8173-25E3-1669-665A-BBDFE9A36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409264-CD8B-C75F-8888-7FAA08C25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289F50-49CC-8538-0811-A292B9FD4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8CFF1B-E37A-8B00-69C3-C87E2153D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15680D-F2C7-92C5-89E4-A2B52943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95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E3E2A-BD35-2793-83FA-0CCE10750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E2781A-AFA0-3921-4EE2-5B00B9AD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3DA8E7-094B-C80F-0BF6-034E4AE3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0C2A5D-6A61-26DD-64AB-76E655583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698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A7598C-AC4E-3B63-9E8F-A1053438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7B6F04-2EA8-786F-FA82-B489CE8C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FDF5AD-7FBD-4072-A2ED-BDAD161A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23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FF3707-B7A7-A1B6-CE62-3234E10A8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A23031-9BD2-FB83-FECC-D7CBDEF42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2A3179-D9E7-6DB7-4699-0FA3B3F3E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355DB7-4077-CDD9-1871-36AFCBF8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BCB1D8-0F52-BF92-62BF-F30655E4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E04A50-7729-EA34-34E5-B8164F75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89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1D364-1200-4744-F143-5AD4654A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7E4D205-FD0A-42C0-DA0C-9075F505E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54E90E-C9E2-B82A-68B5-CAEF8B531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F971C1-644F-E1EB-C311-63255913D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F8C637-975D-EA59-5670-F97279EFB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F88777-5AA2-0EED-A699-3513DA9C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36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67BE77-121B-4BAD-5233-98D9915A1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E2F449-82B9-6B6F-1A11-D7A1F70E4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834901-5996-BE78-C06D-91AE46BB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06628-F82D-F94A-28AA-AE9BBF17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0C2A63-C155-3F76-2647-18C11819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31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429FC8-67AB-4EC1-BCB2-E279CA12A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436561-562C-864C-2B60-D4355E239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833C85-4579-0A03-3B47-0CFF4ADC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596F61-46E0-C827-065E-35872CA6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0D0013-332D-29B5-DF00-A4888EA6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61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D4CC5D-3FAD-CE66-B2F1-B708AABE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F64EA8-C6E5-75F2-DFD9-9B3B1D58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190849-71F9-F44B-B145-B7B42313C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ECCBE-CF65-4BFC-9C28-098887E321E3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8B3813-4C3D-1DFF-0924-53C6E1A96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97B93D-CD88-9C28-88F3-ABD4DDCB7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EBE57-FA76-4DC6-AFDC-641B5FA8A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946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5C45EA-4925-CF77-9A76-1E698A4FB859}"/>
                  </a:ext>
                </a:extLst>
              </p:cNvPr>
              <p:cNvSpPr txBox="1"/>
              <p:nvPr/>
            </p:nvSpPr>
            <p:spPr>
              <a:xfrm>
                <a:off x="0" y="55002"/>
                <a:ext cx="672393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dirty="0"/>
                  <a:t>在一个大规模分布式计算系统中，一个计算节点执行单个子任务的时长（单位：秒）服从参数为 𝜆</a:t>
                </a:r>
                <a:r>
                  <a:rPr lang="en-US" altLang="zh-CN" dirty="0"/>
                  <a:t>=0.1</a:t>
                </a:r>
                <a:r>
                  <a:rPr lang="zh-CN" altLang="en-US" dirty="0"/>
                  <a:t>的指数分布，系统为每个子任务设置了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秒的超时时间，若超时则强制终止并标记为失败。</a:t>
                </a:r>
                <a:endParaRPr lang="en-US" altLang="zh-CN" dirty="0"/>
              </a:p>
              <a:p>
                <a:pPr algn="just"/>
                <a:endParaRPr lang="en-US" altLang="zh-CN" dirty="0"/>
              </a:p>
              <a:p>
                <a:pPr algn="just"/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）求任意一个子任务因执行超时而被强制终止的概率？</a:t>
                </a:r>
              </a:p>
              <a:p>
                <a:pPr algn="just"/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）假设某个作业由</a:t>
                </a:r>
                <a:r>
                  <a:rPr lang="en-US" altLang="zh-CN" dirty="0"/>
                  <a:t>100</a:t>
                </a:r>
                <a:r>
                  <a:rPr lang="zh-CN" altLang="en-US" dirty="0"/>
                  <a:t>个相互独立的此类子任务构成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由系统监控其平均执行时长。估算这</a:t>
                </a:r>
                <a:r>
                  <a:rPr lang="en-US" altLang="zh-CN" dirty="0"/>
                  <a:t>100</a:t>
                </a:r>
                <a:r>
                  <a:rPr lang="zh-CN" altLang="en-US" dirty="0"/>
                  <a:t>个子任务的平均执行时长超过</a:t>
                </a:r>
                <a:r>
                  <a:rPr lang="en-US" altLang="zh-CN" dirty="0"/>
                  <a:t>11</a:t>
                </a:r>
                <a:r>
                  <a:rPr lang="zh-CN" altLang="en-US" dirty="0"/>
                  <a:t>秒的概率。（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=0.8413</a:t>
                </a:r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5C45EA-4925-CF77-9A76-1E698A4FB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002"/>
                <a:ext cx="6723934" cy="2308324"/>
              </a:xfrm>
              <a:prstGeom prst="rect">
                <a:avLst/>
              </a:prstGeom>
              <a:blipFill>
                <a:blip r:embed="rId2"/>
                <a:stretch>
                  <a:fillRect l="-725" t="-1319" r="-4080" b="-3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D4CE6A8B-6380-3D16-D3DC-D6AE7E622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73" y="2487706"/>
            <a:ext cx="5760665" cy="359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92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9CA706C-4F61-FE14-C149-4F6ECACCE8FB}"/>
                  </a:ext>
                </a:extLst>
              </p:cNvPr>
              <p:cNvSpPr txBox="1"/>
              <p:nvPr/>
            </p:nvSpPr>
            <p:spPr>
              <a:xfrm>
                <a:off x="0" y="0"/>
                <a:ext cx="8674769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dirty="0"/>
                  <a:t>在大数据平台的实时数据管道中，数据采集延迟是一个关键性能指标。根据设计规范，某个数据源字段的采集延迟应稳定在某个水平。为了监控数据质量，从该数据源连续采集了 </a:t>
                </a:r>
                <a:r>
                  <a:rPr lang="en-US" altLang="zh-CN" dirty="0"/>
                  <a:t>25 </a:t>
                </a:r>
                <a:r>
                  <a:rPr lang="zh-CN" altLang="en-US" dirty="0"/>
                  <a:t>条记录，得到其延迟时间（单位：毫秒）的样本均值为 </a:t>
                </a:r>
                <a:r>
                  <a:rPr lang="en-US" altLang="zh-CN" dirty="0"/>
                  <a:t>102.0 </a:t>
                </a:r>
                <a:r>
                  <a:rPr lang="en-US" altLang="zh-CN" dirty="0" err="1"/>
                  <a:t>ms</a:t>
                </a:r>
                <a:r>
                  <a:rPr lang="zh-CN" altLang="en-US" dirty="0"/>
                  <a:t>，样本标准差为 </a:t>
                </a:r>
                <a:r>
                  <a:rPr lang="en-US" altLang="zh-CN" dirty="0"/>
                  <a:t>10.0 </a:t>
                </a:r>
                <a:r>
                  <a:rPr lang="en-US" altLang="zh-CN" dirty="0" err="1"/>
                  <a:t>ms</a:t>
                </a:r>
                <a:r>
                  <a:rPr lang="zh-CN" altLang="en-US" dirty="0"/>
                  <a:t>。（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i="0" dirty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zh-CN" altLang="en-US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0" dirty="0" smtClean="0"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dirty="0"/>
                  <a:t>1.711</a:t>
                </a:r>
                <a:r>
                  <a:rPr lang="zh-CN" altLang="en-US" dirty="0"/>
                  <a:t>）</a:t>
                </a:r>
              </a:p>
              <a:p>
                <a:pPr algn="just"/>
                <a:endParaRPr lang="zh-CN" altLang="en-US" dirty="0"/>
              </a:p>
              <a:p>
                <a:pPr algn="just"/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）请建立该数据源平均采集延迟 𝜇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 </a:t>
                </a:r>
                <a:r>
                  <a:rPr lang="en-US" altLang="zh-CN" dirty="0"/>
                  <a:t>90% </a:t>
                </a:r>
                <a:r>
                  <a:rPr lang="zh-CN" altLang="en-US" dirty="0"/>
                  <a:t>置信区间。</a:t>
                </a:r>
              </a:p>
              <a:p>
                <a:pPr algn="just"/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）根据服务等级协议（</a:t>
                </a:r>
                <a:r>
                  <a:rPr lang="en-US" altLang="zh-CN" dirty="0"/>
                  <a:t>SLA</a:t>
                </a:r>
                <a:r>
                  <a:rPr lang="zh-CN" altLang="en-US" dirty="0"/>
                  <a:t>），该字段的平均采集延迟不应超过 </a:t>
                </a:r>
                <a:r>
                  <a:rPr lang="en-US" altLang="zh-CN" dirty="0"/>
                  <a:t>100 </a:t>
                </a:r>
                <a:r>
                  <a:rPr lang="zh-CN" altLang="en-US" dirty="0"/>
                  <a:t>毫秒。在显著性水平 𝛼</a:t>
                </a:r>
                <a:r>
                  <a:rPr lang="en-US" altLang="zh-CN" dirty="0"/>
                  <a:t>=0.05 </a:t>
                </a:r>
                <a:r>
                  <a:rPr lang="zh-CN" altLang="en-US" dirty="0"/>
                  <a:t>下，是否有统计证据表明当前平均延迟已超标？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9CA706C-4F61-FE14-C149-4F6ECACCE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8674769" cy="2308324"/>
              </a:xfrm>
              <a:prstGeom prst="rect">
                <a:avLst/>
              </a:prstGeom>
              <a:blipFill>
                <a:blip r:embed="rId2"/>
                <a:stretch>
                  <a:fillRect l="-562" t="-1319" r="-3162" b="-3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F364AE90-8912-9B9C-19E0-02166935E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27" y="2516317"/>
            <a:ext cx="5650309" cy="351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56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246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凡 费</dc:creator>
  <cp:lastModifiedBy>凡 费</cp:lastModifiedBy>
  <cp:revision>4</cp:revision>
  <dcterms:created xsi:type="dcterms:W3CDTF">2026-01-01T19:17:07Z</dcterms:created>
  <dcterms:modified xsi:type="dcterms:W3CDTF">2026-01-01T20:16:57Z</dcterms:modified>
</cp:coreProperties>
</file>